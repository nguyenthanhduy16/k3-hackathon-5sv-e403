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457200"/>
            <a:ext cx="10820095" cy="731520"/>
          </a:xfrm>
          <a:prstGeom prst="rect">
            <a:avLst/>
          </a:prstGeom>
          <a:noFill/>
        </p:spPr>
        <p:txBody>
          <a:bodyPr wrap="square">
            <a:spAutoFit/>
          </a:bodyPr>
          <a:lstStyle/>
          <a:p>
            <a:pPr>
              <a:defRPr sz="2800" b="1">
                <a:solidFill>
                  <a:srgbClr val="FFFFFF"/>
                </a:solidFill>
                <a:latin typeface="Arial"/>
              </a:defRPr>
            </a:pPr>
            <a:r>
              <a:t>1. USER &amp; JOB: Ôn tập buổi học VLearn</a:t>
            </a:r>
          </a:p>
        </p:txBody>
      </p:sp>
      <p:sp>
        <p:nvSpPr>
          <p:cNvPr id="3" name="TextBox 2"/>
          <p:cNvSpPr txBox="1"/>
          <p:nvPr/>
        </p:nvSpPr>
        <p:spPr>
          <a:xfrm>
            <a:off x="685800" y="1188720"/>
            <a:ext cx="10820095" cy="5029200"/>
          </a:xfrm>
          <a:prstGeom prst="rect">
            <a:avLst/>
          </a:prstGeom>
          <a:noFill/>
        </p:spPr>
        <p:txBody>
          <a:bodyPr wrap="square">
            <a:spAutoFit/>
          </a:bodyPr>
          <a:lstStyle/>
          <a:p>
            <a:pPr>
              <a:spcAft>
                <a:spcPts val="1000"/>
              </a:spcAft>
              <a:defRPr sz="1800" b="1">
                <a:solidFill>
                  <a:srgbClr val="0EA5E9"/>
                </a:solidFill>
                <a:latin typeface="Arial"/>
              </a:defRPr>
            </a:pPr>
            <a:r>
              <a:t>Core JTBD (Hành vi &amp; Kỳ vọng chính):</a:t>
            </a:r>
          </a:p>
          <a:p>
            <a:pPr lvl="1">
              <a:spcAft>
                <a:spcPts val="1000"/>
              </a:spcAft>
              <a:defRPr sz="1600" b="0">
                <a:solidFill>
                  <a:srgbClr val="FFFFFF"/>
                </a:solidFill>
                <a:latin typeface="Arial"/>
              </a:defRPr>
            </a:pPr>
            <a:r>
              <a:t>“Khi vừa học xong một buổi nhiều slide, tôi muốn nắm lại toàn bộ nội dung buổi và biết phần nào nằm ở trang nào, để ôn đúng trọng tâm mà không phải lật lại từng trang.”</a:t>
            </a:r>
          </a:p>
          <a:p>
            <a:pPr>
              <a:spcAft>
                <a:spcPts val="1000"/>
              </a:spcAft>
              <a:defRPr sz="1800" b="1">
                <a:solidFill>
                  <a:srgbClr val="0EA5E9"/>
                </a:solidFill>
                <a:latin typeface="Arial"/>
              </a:defRPr>
            </a:pPr>
            <a:r>
              <a:t>Bằng chứng Định lượng Pain Point (Evidence):</a:t>
            </a:r>
          </a:p>
          <a:p>
            <a:pPr lvl="1">
              <a:spcAft>
                <a:spcPts val="1000"/>
              </a:spcAft>
              <a:defRPr sz="1600" b="1">
                <a:solidFill>
                  <a:srgbClr val="FFFFFF"/>
                </a:solidFill>
                <a:latin typeface="Arial"/>
              </a:defRPr>
            </a:pPr>
            <a:r>
              <a:t>• Khảo sát người dùng thật (n=41):</a:t>
            </a:r>
          </a:p>
          <a:p>
            <a:pPr lvl="2">
              <a:spcAft>
                <a:spcPts val="1000"/>
              </a:spcAft>
              <a:defRPr sz="1500" b="0">
                <a:solidFill>
                  <a:srgbClr val="94A3B8"/>
                </a:solidFill>
                <a:latin typeface="Arial"/>
              </a:defRPr>
            </a:pPr>
            <a:r>
              <a:t>- 96.6% học viên gặp khó khăn khi tự ôn tập do tài liệu quá dài, mất nhiều thời gian đọc lại.</a:t>
            </a:r>
          </a:p>
          <a:p>
            <a:pPr lvl="2">
              <a:spcAft>
                <a:spcPts val="1000"/>
              </a:spcAft>
              <a:defRPr sz="1500" b="0">
                <a:solidFill>
                  <a:srgbClr val="94A3B8"/>
                </a:solidFill>
                <a:latin typeface="Arial"/>
              </a:defRPr>
            </a:pPr>
            <a:r>
              <a:t>- 79.3% chê khả năng tóm tắt của Tutor cũ (chỉ tóm tắt trang đơn lẻ, lan man hoặc báo không tìm thấy).</a:t>
            </a:r>
          </a:p>
          <a:p>
            <a:pPr lvl="2">
              <a:spcAft>
                <a:spcPts val="1000"/>
              </a:spcAft>
              <a:defRPr sz="1500" b="0">
                <a:solidFill>
                  <a:srgbClr val="94A3B8"/>
                </a:solidFill>
                <a:latin typeface="Arial"/>
              </a:defRPr>
            </a:pPr>
            <a:r>
              <a:t>- 89.7% sẵn sàng dùng tính năng tóm tắt toàn bộ buổi học ngay lập tức.</a:t>
            </a:r>
          </a:p>
          <a:p>
            <a:pPr lvl="1">
              <a:spcAft>
                <a:spcPts val="1000"/>
              </a:spcAft>
              <a:defRPr sz="1600" b="1">
                <a:solidFill>
                  <a:srgbClr val="FFFFFF"/>
                </a:solidFill>
                <a:latin typeface="Arial"/>
              </a:defRPr>
            </a:pPr>
            <a:r>
              <a:t>• Khai phá dữ liệu Chatlog thực tế (2,522 dòng):</a:t>
            </a:r>
          </a:p>
          <a:p>
            <a:pPr lvl="2">
              <a:spcAft>
                <a:spcPts val="1000"/>
              </a:spcAft>
              <a:defRPr sz="1500" b="0">
                <a:solidFill>
                  <a:srgbClr val="94A3B8"/>
                </a:solidFill>
                <a:latin typeface="Arial"/>
              </a:defRPr>
            </a:pPr>
            <a:r>
              <a:t>- 29.1% (367/1,261) lượt Tutor trả lời dạng “không tìm thấy” hoặc từ chối do bị neo ở trang hiện tại.</a:t>
            </a:r>
          </a:p>
          <a:p>
            <a:pPr lvl="2">
              <a:spcAft>
                <a:spcPts val="1000"/>
              </a:spcAft>
              <a:defRPr sz="1500" b="0">
                <a:solidFill>
                  <a:srgbClr val="94A3B8"/>
                </a:solidFill>
                <a:latin typeface="Arial"/>
              </a:defRPr>
            </a:pPr>
            <a:r>
              <a:t>- Nhóm câu hỏi tóm tắt/tổng hợp cả buổi học bị bí nhiều nhất: 62.6% (gấp 3 lần câu hỏi trang).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457200"/>
            <a:ext cx="10820095" cy="731520"/>
          </a:xfrm>
          <a:prstGeom prst="rect">
            <a:avLst/>
          </a:prstGeom>
          <a:noFill/>
        </p:spPr>
        <p:txBody>
          <a:bodyPr wrap="square">
            <a:spAutoFit/>
          </a:bodyPr>
          <a:lstStyle/>
          <a:p>
            <a:pPr>
              <a:defRPr sz="2800" b="1">
                <a:solidFill>
                  <a:srgbClr val="FFFFFF"/>
                </a:solidFill>
                <a:latin typeface="Arial"/>
              </a:defRPr>
            </a:pPr>
            <a:r>
              <a:t>2. LỰA CHỌN TÍNH NĂNG &amp; ĐÁNH GIÁ IMPACT</a:t>
            </a:r>
          </a:p>
        </p:txBody>
      </p:sp>
      <p:sp>
        <p:nvSpPr>
          <p:cNvPr id="3" name="TextBox 2"/>
          <p:cNvSpPr txBox="1"/>
          <p:nvPr/>
        </p:nvSpPr>
        <p:spPr>
          <a:xfrm>
            <a:off x="685800" y="1188720"/>
            <a:ext cx="10820095" cy="5029200"/>
          </a:xfrm>
          <a:prstGeom prst="rect">
            <a:avLst/>
          </a:prstGeom>
          <a:noFill/>
        </p:spPr>
        <p:txBody>
          <a:bodyPr wrap="square">
            <a:spAutoFit/>
          </a:bodyPr>
          <a:lstStyle/>
          <a:p>
            <a:pPr>
              <a:spcAft>
                <a:spcPts val="1000"/>
              </a:spcAft>
              <a:defRPr sz="1800" b="1">
                <a:solidFill>
                  <a:srgbClr val="0EA5E9"/>
                </a:solidFill>
                <a:latin typeface="Arial"/>
              </a:defRPr>
            </a:pPr>
            <a:r>
              <a:t>Bảng Impact so sánh 3 ứng viên:</a:t>
            </a:r>
          </a:p>
          <a:p>
            <a:pPr lvl="1">
              <a:spcAft>
                <a:spcPts val="1000"/>
              </a:spcAft>
              <a:defRPr sz="1600" b="1">
                <a:solidFill>
                  <a:srgbClr val="22C55E"/>
                </a:solidFill>
                <a:latin typeface="Arial"/>
              </a:defRPr>
            </a:pPr>
            <a:r>
              <a:t>1. Ứng viên ①: Câu hỏi tóm tắt buổi (Bị bí 62.6% trong log - 51.7% user chê - Mất &gt;30p/buổi tự lật)</a:t>
            </a:r>
          </a:p>
          <a:p>
            <a:pPr lvl="2">
              <a:spcAft>
                <a:spcPts val="1000"/>
              </a:spcAft>
              <a:defRPr sz="1500" b="0">
                <a:solidFill>
                  <a:srgbClr val="94A3B8"/>
                </a:solidFill>
                <a:latin typeface="Arial"/>
              </a:defRPr>
            </a:pPr>
            <a:r>
              <a:t>-&gt; QUYẾT ĐỊNH CHỌN: Tác động trực tiếp lên bài toán ôn tập hàng ngày, dễ sửa lỗi bằng cách nới scope RAG.</a:t>
            </a:r>
          </a:p>
          <a:p>
            <a:pPr lvl="1">
              <a:spcAft>
                <a:spcPts val="1000"/>
              </a:spcAft>
              <a:defRPr sz="1600" b="1">
                <a:solidFill>
                  <a:srgbClr val="FFFFFF"/>
                </a:solidFill>
                <a:latin typeface="Arial"/>
              </a:defRPr>
            </a:pPr>
            <a:r>
              <a:t>2. Ứng viên ②: Câu hỏi vận hành lớp (Deadline, checkpoint, rubric - Bị bí 42.3%)</a:t>
            </a:r>
          </a:p>
          <a:p>
            <a:pPr lvl="2">
              <a:spcAft>
                <a:spcPts val="1000"/>
              </a:spcAft>
              <a:defRPr sz="1500" b="0">
                <a:solidFill>
                  <a:srgbClr val="94A3B8"/>
                </a:solidFill>
                <a:latin typeface="Arial"/>
              </a:defRPr>
            </a:pPr>
            <a:r>
              <a:t>-&gt; TẠM HOÃN: Việc trả lời sai thông tin hạn nộp có thể gây hậu quả trực tiếp (0 điểm). Cần nhiều nguồn sự thật riêng nằm ngoài slide và quy trình kiểm duyệt khắt khe hơn. (Tích hợp một phần vào Cả môn).</a:t>
            </a:r>
          </a:p>
          <a:p>
            <a:pPr lvl="1">
              <a:spcAft>
                <a:spcPts val="1000"/>
              </a:spcAft>
              <a:defRPr sz="1600" b="1">
                <a:solidFill>
                  <a:srgbClr val="FFFFFF"/>
                </a:solidFill>
                <a:latin typeface="Arial"/>
              </a:defRPr>
            </a:pPr>
            <a:r>
              <a:t>3. Ứng viên ③: Giải thích trang slide đang đọc dễ hiểu hơn</a:t>
            </a:r>
          </a:p>
          <a:p>
            <a:pPr lvl="2">
              <a:spcAft>
                <a:spcPts val="1000"/>
              </a:spcAft>
              <a:defRPr sz="1500" b="0">
                <a:solidFill>
                  <a:srgbClr val="94A3B8"/>
                </a:solidFill>
                <a:latin typeface="Arial"/>
              </a:defRPr>
            </a:pPr>
            <a:r>
              <a:t>-&gt; LOẠI BỎ: Chỉ bị bí 22.9% - Tutor cũ đã làm tương đối ổn định, cải thiện biên nhỏ hơn nhiều so với nhóm ①.</a:t>
            </a:r>
          </a:p>
          <a:p>
            <a:pPr>
              <a:spcAft>
                <a:spcPts val="1000"/>
              </a:spcAft>
              <a:defRPr sz="1800" b="1">
                <a:solidFill>
                  <a:srgbClr val="0EA5E9"/>
                </a:solidFill>
                <a:latin typeface="Arial"/>
              </a:defRPr>
            </a:pPr>
            <a:r>
              <a:t>Lý do loại/chọn bằng con số cụ thể:</a:t>
            </a:r>
          </a:p>
          <a:p>
            <a:pPr lvl="1">
              <a:spcAft>
                <a:spcPts val="1000"/>
              </a:spcAft>
              <a:defRPr sz="1500" b="0">
                <a:solidFill>
                  <a:srgbClr val="FFFFFF"/>
                </a:solidFill>
                <a:latin typeface="Arial"/>
              </a:defRPr>
            </a:pPr>
            <a:r>
              <a:t>Chọn ứng viên ① vì tỷ lệ lỗi chatlog quá lớn (62.6% lỗi). Giải quyết được gốc rễ của pain point bằng một thay đổi duy nhất trong cơ chế quyết định scope RAG (neo trang -&gt; tự nới buổi).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457200"/>
            <a:ext cx="10820095" cy="731520"/>
          </a:xfrm>
          <a:prstGeom prst="rect">
            <a:avLst/>
          </a:prstGeom>
          <a:noFill/>
        </p:spPr>
        <p:txBody>
          <a:bodyPr wrap="square">
            <a:spAutoFit/>
          </a:bodyPr>
          <a:lstStyle/>
          <a:p>
            <a:pPr>
              <a:defRPr sz="2800" b="1">
                <a:solidFill>
                  <a:srgbClr val="FFFFFF"/>
                </a:solidFill>
                <a:latin typeface="Arial"/>
              </a:defRPr>
            </a:pPr>
            <a:r>
              <a:t>3. GIẢI PHÁP VÀ KỊCH BẢN DEMO LIVE</a:t>
            </a:r>
          </a:p>
        </p:txBody>
      </p:sp>
      <p:sp>
        <p:nvSpPr>
          <p:cNvPr id="3" name="TextBox 2"/>
          <p:cNvSpPr txBox="1"/>
          <p:nvPr/>
        </p:nvSpPr>
        <p:spPr>
          <a:xfrm>
            <a:off x="685800" y="1188720"/>
            <a:ext cx="10820095" cy="5029200"/>
          </a:xfrm>
          <a:prstGeom prst="rect">
            <a:avLst/>
          </a:prstGeom>
          <a:noFill/>
        </p:spPr>
        <p:txBody>
          <a:bodyPr wrap="square">
            <a:spAutoFit/>
          </a:bodyPr>
          <a:lstStyle/>
          <a:p>
            <a:pPr>
              <a:spcAft>
                <a:spcPts val="1000"/>
              </a:spcAft>
              <a:defRPr sz="1800" b="1">
                <a:solidFill>
                  <a:srgbClr val="0EA5E9"/>
                </a:solidFill>
                <a:latin typeface="Arial"/>
              </a:defRPr>
            </a:pPr>
            <a:r>
              <a:t>Lát cắt trải nghiệm một câu (Core Slice):</a:t>
            </a:r>
          </a:p>
          <a:p>
            <a:pPr lvl="1">
              <a:spcAft>
                <a:spcPts val="1000"/>
              </a:spcAft>
              <a:defRPr sz="1600" b="0">
                <a:solidFill>
                  <a:srgbClr val="FFFFFF"/>
                </a:solidFill>
                <a:latin typeface="Arial"/>
              </a:defRPr>
            </a:pPr>
            <a:r>
              <a:t>“Học viên đang đọc một trang slide bất kỳ -&gt; bấm hoặc gõ hỏi 'tóm tắt buổi học hôm nay' -&gt; Hệ thống tự quyết định nới phạm vi truy xuất từ trang hiện tại ra toàn bộ slide của buổi -&gt; Trả về cấu trúc 6 mục, takeaway, thuật ngữ kèm link trang bấm được để nhảy trang.”</a:t>
            </a:r>
          </a:p>
          <a:p>
            <a:pPr>
              <a:spcAft>
                <a:spcPts val="1000"/>
              </a:spcAft>
              <a:defRPr sz="1800" b="1">
                <a:solidFill>
                  <a:srgbClr val="0EA5E9"/>
                </a:solidFill>
                <a:latin typeface="Arial"/>
              </a:defRPr>
            </a:pPr>
            <a:r>
              <a:t>Quyết định AI &amp; Model thực hiện:</a:t>
            </a:r>
          </a:p>
          <a:p>
            <a:pPr lvl="1">
              <a:spcAft>
                <a:spcPts val="1000"/>
              </a:spcAft>
              <a:defRPr sz="1600" b="0">
                <a:solidFill>
                  <a:srgbClr val="FFFFFF"/>
                </a:solidFill>
                <a:latin typeface="Arial"/>
              </a:defRPr>
            </a:pPr>
            <a:r>
              <a:t>• AI tự quyết định phạm vi truy xuất (Scope Level) từ câu hỏi -&gt; Trích xuất context &amp; sinh câu trả lời.</a:t>
            </a:r>
          </a:p>
          <a:p>
            <a:pPr lvl="1">
              <a:spcAft>
                <a:spcPts val="1000"/>
              </a:spcAft>
              <a:defRPr sz="1600" b="0">
                <a:solidFill>
                  <a:srgbClr val="FFFFFF"/>
                </a:solidFill>
                <a:latin typeface="Arial"/>
              </a:defRPr>
            </a:pPr>
            <a:r>
              <a:t>• Model sử dụng: gpt-4o-mini (cho API chat server-side để tối ưu latency và chi phí).</a:t>
            </a:r>
          </a:p>
          <a:p>
            <a:pPr lvl="1">
              <a:spcAft>
                <a:spcPts val="1000"/>
              </a:spcAft>
              <a:defRPr sz="1600" b="0">
                <a:solidFill>
                  <a:srgbClr val="FFFFFF"/>
                </a:solidFill>
                <a:latin typeface="Arial"/>
              </a:defRPr>
            </a:pPr>
            <a:r>
              <a:t>• Cost-of-error: AI chỉ đề xuất, hiển thị nguồn kèm chip chỉ dẫn để người dùng kiểm chứng (Augmented AI).</a:t>
            </a:r>
          </a:p>
          <a:p>
            <a:pPr>
              <a:spcAft>
                <a:spcPts val="1000"/>
              </a:spcAft>
              <a:defRPr sz="1800" b="1">
                <a:solidFill>
                  <a:srgbClr val="0EA5E9"/>
                </a:solidFill>
                <a:latin typeface="Arial"/>
              </a:defRPr>
            </a:pPr>
            <a:r>
              <a:t>Kịch bản Demo Live (1 case chuẩn + 1 case bẫy rủi ro):</a:t>
            </a:r>
          </a:p>
          <a:p>
            <a:pPr lvl="1">
              <a:spcAft>
                <a:spcPts val="1000"/>
              </a:spcAft>
              <a:defRPr sz="1500" b="0">
                <a:solidFill>
                  <a:srgbClr val="94A3B8"/>
                </a:solidFill>
                <a:latin typeface="Arial"/>
              </a:defRPr>
            </a:pPr>
            <a:r>
              <a:t>• Case 1 (Happy Path): Hỏi tóm tắt buổi hôm nay -&gt; Bot nhận diện, tự nới scope ra cả buổi học, trả về kết quả tóm tắt mạch lạc, phân bổ số trang đối chiếu chính xác, click nhảy trang hoạt động mượt.</a:t>
            </a:r>
          </a:p>
          <a:p>
            <a:pPr lvl="1">
              <a:spcAft>
                <a:spcPts val="1000"/>
              </a:spcAft>
              <a:defRPr sz="1500" b="0">
                <a:solidFill>
                  <a:srgbClr val="94A3B8"/>
                </a:solidFill>
                <a:latin typeface="Arial"/>
              </a:defRPr>
            </a:pPr>
            <a:r>
              <a:t>• Case 2 (Graceful Deflection): Hỏi ví dụ dự án AI ở slide 4 (thực tế slide 4 không có) -&gt; Bot không bịa đặt ví dụ, chỉ tóm tắt 3 ý chính trên slide và hướng dẫn người học nới scope lên Cả môn để tìm ví dụ cụ thể.</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457200"/>
            <a:ext cx="10820095" cy="731520"/>
          </a:xfrm>
          <a:prstGeom prst="rect">
            <a:avLst/>
          </a:prstGeom>
          <a:noFill/>
        </p:spPr>
        <p:txBody>
          <a:bodyPr wrap="square">
            <a:spAutoFit/>
          </a:bodyPr>
          <a:lstStyle/>
          <a:p>
            <a:pPr>
              <a:defRPr sz="2800" b="1">
                <a:solidFill>
                  <a:srgbClr val="FFFFFF"/>
                </a:solidFill>
                <a:latin typeface="Arial"/>
              </a:defRPr>
            </a:pPr>
            <a:r>
              <a:t>4. KẾT QUẢ ĐO VÀ QUALITY BAR ĐÃ CAM KẾT</a:t>
            </a:r>
          </a:p>
        </p:txBody>
      </p:sp>
      <p:sp>
        <p:nvSpPr>
          <p:cNvPr id="3" name="TextBox 2"/>
          <p:cNvSpPr txBox="1"/>
          <p:nvPr/>
        </p:nvSpPr>
        <p:spPr>
          <a:xfrm>
            <a:off x="685800" y="1188720"/>
            <a:ext cx="10820095" cy="5029200"/>
          </a:xfrm>
          <a:prstGeom prst="rect">
            <a:avLst/>
          </a:prstGeom>
          <a:noFill/>
        </p:spPr>
        <p:txBody>
          <a:bodyPr wrap="square">
            <a:spAutoFit/>
          </a:bodyPr>
          <a:lstStyle/>
          <a:p>
            <a:pPr>
              <a:spcAft>
                <a:spcPts val="1000"/>
              </a:spcAft>
              <a:defRPr sz="1800" b="1">
                <a:solidFill>
                  <a:srgbClr val="0EA5E9"/>
                </a:solidFill>
                <a:latin typeface="Arial"/>
              </a:defRPr>
            </a:pPr>
            <a:r>
              <a:t>Quality Bar Cam Kết (Chốt từ 23:59 N1):</a:t>
            </a:r>
          </a:p>
          <a:p>
            <a:pPr lvl="1">
              <a:spcAft>
                <a:spcPts val="1000"/>
              </a:spcAft>
              <a:defRPr sz="1600" b="0">
                <a:solidFill>
                  <a:srgbClr val="FFFFFF"/>
                </a:solidFill>
                <a:latin typeface="Arial"/>
              </a:defRPr>
            </a:pPr>
            <a:r>
              <a:t>• NLU Intent Accuracy: &gt;= 80% (đo trên 17 case) | OOD False Positive: 0/3 case.</a:t>
            </a:r>
          </a:p>
          <a:p>
            <a:pPr lvl="1">
              <a:spcAft>
                <a:spcPts val="1000"/>
              </a:spcAft>
              <a:defRPr sz="1600" b="0">
                <a:solidFill>
                  <a:srgbClr val="FFFFFF"/>
                </a:solidFill>
                <a:latin typeface="Arial"/>
              </a:defRPr>
            </a:pPr>
            <a:r>
              <a:t>• Answer Quality: Accuracy &gt;= 1.5, Relevance &gt;= 1.5, Completeness &gt;= 1.4, Hallucination Rate &lt;= 10%.</a:t>
            </a:r>
          </a:p>
          <a:p>
            <a:pPr>
              <a:spcAft>
                <a:spcPts val="1000"/>
              </a:spcAft>
              <a:defRPr sz="1800" b="1">
                <a:solidFill>
                  <a:srgbClr val="0EA5E9"/>
                </a:solidFill>
                <a:latin typeface="Arial"/>
              </a:defRPr>
            </a:pPr>
            <a:r>
              <a:t>Kết quả Đo Lần Cuối (Tổng 38 case):</a:t>
            </a:r>
          </a:p>
          <a:p>
            <a:pPr lvl="1">
              <a:spcAft>
                <a:spcPts val="1000"/>
              </a:spcAft>
              <a:defRPr sz="1600" b="1">
                <a:solidFill>
                  <a:srgbClr val="22C55E"/>
                </a:solidFill>
                <a:latin typeface="Arial"/>
              </a:defRPr>
            </a:pPr>
            <a:r>
              <a:t>• Bộ NLU Intent Classification: Đạt 14/17 câu (82.35%) -&gt; ĐẠT QUALITY BAR! (OOD FPR: 0/3)</a:t>
            </a:r>
          </a:p>
          <a:p>
            <a:pPr lvl="1">
              <a:spcAft>
                <a:spcPts val="1000"/>
              </a:spcAft>
              <a:defRPr sz="1600" b="1">
                <a:solidFill>
                  <a:srgbClr val="22C55E"/>
                </a:solidFill>
                <a:latin typeface="Arial"/>
              </a:defRPr>
            </a:pPr>
            <a:r>
              <a:t>• Bộ Answer Quality (GPT-4o-mini): Đạt 20/21 câu đạt -&gt; ĐẠT TRỌN BỘ QUALITY BAR!</a:t>
            </a:r>
          </a:p>
          <a:p>
            <a:pPr lvl="2">
              <a:spcAft>
                <a:spcPts val="1000"/>
              </a:spcAft>
              <a:defRPr sz="1500" b="0">
                <a:solidFill>
                  <a:srgbClr val="94A3B8"/>
                </a:solidFill>
                <a:latin typeface="Arial"/>
              </a:defRPr>
            </a:pPr>
            <a:r>
              <a:t>- Accuracy trung bình: 1.71 (so với bar 1.5)</a:t>
            </a:r>
          </a:p>
          <a:p>
            <a:pPr lvl="2">
              <a:spcAft>
                <a:spcPts val="1000"/>
              </a:spcAft>
              <a:defRPr sz="1500" b="0">
                <a:solidFill>
                  <a:srgbClr val="94A3B8"/>
                </a:solidFill>
                <a:latin typeface="Arial"/>
              </a:defRPr>
            </a:pPr>
            <a:r>
              <a:t>- Relevance trung bình: 1.90 (so với bar 1.5)</a:t>
            </a:r>
          </a:p>
          <a:p>
            <a:pPr lvl="2">
              <a:spcAft>
                <a:spcPts val="1000"/>
              </a:spcAft>
              <a:defRPr sz="1500" b="0">
                <a:solidFill>
                  <a:srgbClr val="94A3B8"/>
                </a:solidFill>
                <a:latin typeface="Arial"/>
              </a:defRPr>
            </a:pPr>
            <a:r>
              <a:t>- Completeness trung bình: 1.62 (so với bar 1.4)</a:t>
            </a:r>
          </a:p>
          <a:p>
            <a:pPr lvl="2">
              <a:spcAft>
                <a:spcPts val="1000"/>
              </a:spcAft>
              <a:defRPr sz="1500" b="0">
                <a:solidFill>
                  <a:srgbClr val="94A3B8"/>
                </a:solidFill>
                <a:latin typeface="Arial"/>
              </a:defRPr>
            </a:pPr>
            <a:r>
              <a:t>- Hallucination rate: 0.0% (so với bar &lt;= 10%)</a:t>
            </a:r>
          </a:p>
          <a:p>
            <a:pPr>
              <a:spcAft>
                <a:spcPts val="1000"/>
              </a:spcAft>
              <a:defRPr sz="1800" b="1">
                <a:solidFill>
                  <a:srgbClr val="0EA5E9"/>
                </a:solidFill>
                <a:latin typeface="Arial"/>
              </a:defRPr>
            </a:pPr>
            <a:r>
              <a:t>Phân tích nguyên nhân Ca thất bại lớn nhất (3/17 case NLU hỏng):</a:t>
            </a:r>
          </a:p>
          <a:p>
            <a:pPr lvl="1">
              <a:spcAft>
                <a:spcPts val="1000"/>
              </a:spcAft>
              <a:defRPr sz="1500" b="0">
                <a:solidFill>
                  <a:srgbClr val="FFFFFF"/>
                </a:solidFill>
                <a:latin typeface="Arial"/>
              </a:defRPr>
            </a:pPr>
            <a:r>
              <a:t>• Các case lỗi: tc_011 ('slie 24'), tc_012 ('slde 26'), tc_016 ('sờ lai này') do người dùng gõ sai chính tả / từ lóng.</a:t>
            </a:r>
          </a:p>
          <a:p>
            <a:pPr lvl="2">
              <a:spcAft>
                <a:spcPts val="1000"/>
              </a:spcAft>
              <a:defRPr sz="1500" b="0">
                <a:solidFill>
                  <a:srgbClr val="94A3B8"/>
                </a:solidFill>
                <a:latin typeface="Arial"/>
              </a:defRPr>
            </a:pPr>
            <a:r>
              <a:t>• Nguyên nhân: Regex khớp từ khóa quá cứng nhắc, dễ vỡ trước ngôn ngữ khẩu ngữ tự nhiên.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457200"/>
            <a:ext cx="10820095" cy="731520"/>
          </a:xfrm>
          <a:prstGeom prst="rect">
            <a:avLst/>
          </a:prstGeom>
          <a:noFill/>
        </p:spPr>
        <p:txBody>
          <a:bodyPr wrap="square">
            <a:spAutoFit/>
          </a:bodyPr>
          <a:lstStyle/>
          <a:p>
            <a:pPr>
              <a:defRPr sz="2800" b="1">
                <a:solidFill>
                  <a:srgbClr val="FFFFFF"/>
                </a:solidFill>
                <a:latin typeface="Arial"/>
              </a:defRPr>
            </a:pPr>
            <a:r>
              <a:t>5. PHẢN HỒI CỦA USER THẬT (VALIDATION LOG)</a:t>
            </a:r>
          </a:p>
        </p:txBody>
      </p:sp>
      <p:sp>
        <p:nvSpPr>
          <p:cNvPr id="3" name="TextBox 2"/>
          <p:cNvSpPr txBox="1"/>
          <p:nvPr/>
        </p:nvSpPr>
        <p:spPr>
          <a:xfrm>
            <a:off x="685800" y="1188720"/>
            <a:ext cx="10820095" cy="5029200"/>
          </a:xfrm>
          <a:prstGeom prst="rect">
            <a:avLst/>
          </a:prstGeom>
          <a:noFill/>
        </p:spPr>
        <p:txBody>
          <a:bodyPr wrap="square">
            <a:spAutoFit/>
          </a:bodyPr>
          <a:lstStyle/>
          <a:p>
            <a:pPr>
              <a:spcAft>
                <a:spcPts val="1000"/>
              </a:spcAft>
              <a:defRPr sz="1800" b="1">
                <a:solidFill>
                  <a:srgbClr val="0EA5E9"/>
                </a:solidFill>
                <a:latin typeface="Arial"/>
              </a:defRPr>
            </a:pPr>
            <a:r>
              <a:t>Nhật ký kiểm thử thực tế từ 5 người thử ngoài nhóm (Zone E403):</a:t>
            </a:r>
          </a:p>
          <a:p>
            <a:pPr lvl="1">
              <a:spcAft>
                <a:spcPts val="1000"/>
              </a:spcAft>
              <a:defRPr sz="1600" b="1">
                <a:solidFill>
                  <a:srgbClr val="FFFFFF"/>
                </a:solidFill>
                <a:latin typeface="Arial"/>
              </a:defRPr>
            </a:pPr>
            <a:r>
              <a:t>1. Nguyễn Văn Hưng (Học viên ngoài nhóm):</a:t>
            </a:r>
          </a:p>
          <a:p>
            <a:pPr lvl="2">
              <a:spcAft>
                <a:spcPts val="1000"/>
              </a:spcAft>
              <a:defRPr sz="1500" b="0">
                <a:solidFill>
                  <a:srgbClr val="F97316"/>
                </a:solidFill>
                <a:latin typeface="Arial"/>
              </a:defRPr>
            </a:pPr>
            <a:r>
              <a:t>• Quote nguyên văn: “bấm tóm tắt lần đầu thì k đc, nma bấm 'tạo lại câu trả lời' thì lại đc”</a:t>
            </a:r>
          </a:p>
          <a:p>
            <a:pPr lvl="2">
              <a:spcAft>
                <a:spcPts val="1000"/>
              </a:spcAft>
              <a:defRPr sz="1500" b="0">
                <a:solidFill>
                  <a:srgbClr val="94A3B8"/>
                </a:solidFill>
                <a:latin typeface="Arial"/>
              </a:defRPr>
            </a:pPr>
            <a:r>
              <a:t>-&gt; Thay đổi kỹ thuật: Tăng thời hạn timeout và thêm cơ chế tự động retry 2 lần phía API Route.</a:t>
            </a:r>
          </a:p>
          <a:p>
            <a:pPr lvl="1">
              <a:spcAft>
                <a:spcPts val="1000"/>
              </a:spcAft>
              <a:defRPr sz="1600" b="1">
                <a:solidFill>
                  <a:srgbClr val="FFFFFF"/>
                </a:solidFill>
                <a:latin typeface="Arial"/>
              </a:defRPr>
            </a:pPr>
            <a:r>
              <a:t>2. Trương Thảo Nguyên (Học viên ngoài nhóm):</a:t>
            </a:r>
          </a:p>
          <a:p>
            <a:pPr lvl="2">
              <a:spcAft>
                <a:spcPts val="1000"/>
              </a:spcAft>
              <a:defRPr sz="1500" b="0">
                <a:solidFill>
                  <a:srgbClr val="F97316"/>
                </a:solidFill>
                <a:latin typeface="Arial"/>
              </a:defRPr>
            </a:pPr>
            <a:r>
              <a:t>• Quote nguyên văn: “Ý là t muốn hỏi về tất cả các trang... Nhưng t ấn chọn cả buổi Thì kết quả vẫn là trang 35”</a:t>
            </a:r>
          </a:p>
          <a:p>
            <a:pPr lvl="2">
              <a:spcAft>
                <a:spcPts val="1000"/>
              </a:spcAft>
              <a:defRPr sz="1500" b="0">
                <a:solidFill>
                  <a:srgbClr val="94A3B8"/>
                </a:solidFill>
                <a:latin typeface="Arial"/>
              </a:defRPr>
            </a:pPr>
            <a:r>
              <a:t>-&gt; Thay đổi kỹ thuật: Sửa lỗi kẹt scope, đồng bộ biến phạm vi chọn thủ công từ client trực tiếp vào RAG query.</a:t>
            </a:r>
          </a:p>
          <a:p>
            <a:pPr lvl="1">
              <a:spcAft>
                <a:spcPts val="1000"/>
              </a:spcAft>
              <a:defRPr sz="1600" b="1">
                <a:solidFill>
                  <a:srgbClr val="FFFFFF"/>
                </a:solidFill>
                <a:latin typeface="Arial"/>
              </a:defRPr>
            </a:pPr>
            <a:r>
              <a:t>3. Nguyễn Đăng Hưng (Học viên ngoài nhóm):</a:t>
            </a:r>
          </a:p>
          <a:p>
            <a:pPr lvl="2">
              <a:spcAft>
                <a:spcPts val="1000"/>
              </a:spcAft>
              <a:defRPr sz="1500" b="0">
                <a:solidFill>
                  <a:srgbClr val="22C55E"/>
                </a:solidFill>
                <a:latin typeface="Arial"/>
              </a:defRPr>
            </a:pPr>
            <a:r>
              <a:t>• Quote nguyên văn: Thích thú và thả emoji cười đắc ý khi hỏi ví dụ slide 4 và nhận phản hồi khước từ khéo léo.</a:t>
            </a:r>
          </a:p>
          <a:p>
            <a:pPr lvl="2">
              <a:spcAft>
                <a:spcPts val="1000"/>
              </a:spcAft>
              <a:defRPr sz="1500" b="0">
                <a:solidFill>
                  <a:srgbClr val="94A3B8"/>
                </a:solidFill>
                <a:latin typeface="Arial"/>
              </a:defRPr>
            </a:pPr>
            <a:r>
              <a:t>-&gt; Giữ nguyên thiết kế: Khẳng định thiết kế từ chối thông minh (Graceful Deflection) hoạt động rất tốt.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457200"/>
            <a:ext cx="10820095" cy="731520"/>
          </a:xfrm>
          <a:prstGeom prst="rect">
            <a:avLst/>
          </a:prstGeom>
          <a:noFill/>
        </p:spPr>
        <p:txBody>
          <a:bodyPr wrap="square">
            <a:spAutoFit/>
          </a:bodyPr>
          <a:lstStyle/>
          <a:p>
            <a:pPr>
              <a:defRPr sz="2800" b="1">
                <a:solidFill>
                  <a:srgbClr val="FFFFFF"/>
                </a:solidFill>
                <a:latin typeface="Arial"/>
              </a:defRPr>
            </a:pPr>
            <a:r>
              <a:t>6. ROADMAP PHÁT TRIỂN &amp; BÀI HỌC KINH NGHIỆM</a:t>
            </a:r>
          </a:p>
        </p:txBody>
      </p:sp>
      <p:sp>
        <p:nvSpPr>
          <p:cNvPr id="3" name="TextBox 2"/>
          <p:cNvSpPr txBox="1"/>
          <p:nvPr/>
        </p:nvSpPr>
        <p:spPr>
          <a:xfrm>
            <a:off x="685800" y="1188720"/>
            <a:ext cx="10820095" cy="5029200"/>
          </a:xfrm>
          <a:prstGeom prst="rect">
            <a:avLst/>
          </a:prstGeom>
          <a:noFill/>
        </p:spPr>
        <p:txBody>
          <a:bodyPr wrap="square">
            <a:spAutoFit/>
          </a:bodyPr>
          <a:lstStyle/>
          <a:p>
            <a:pPr>
              <a:spcAft>
                <a:spcPts val="1000"/>
              </a:spcAft>
              <a:defRPr sz="1800" b="1">
                <a:solidFill>
                  <a:srgbClr val="0EA5E9"/>
                </a:solidFill>
                <a:latin typeface="Arial"/>
              </a:defRPr>
            </a:pPr>
            <a:r>
              <a:t>Các nhiệm vụ ưu tiên nếu có thêm 1 tuần (Roadmap):</a:t>
            </a:r>
          </a:p>
          <a:p>
            <a:pPr lvl="1">
              <a:spcAft>
                <a:spcPts val="1000"/>
              </a:spcAft>
              <a:defRPr sz="1600" b="1">
                <a:solidFill>
                  <a:srgbClr val="FFFFFF"/>
                </a:solidFill>
                <a:latin typeface="Arial"/>
              </a:defRPr>
            </a:pPr>
            <a:r>
              <a:t>1. Nâng cấp bộ đoán Intent sang LLM Classifier (có Structured Output JSON Schema)</a:t>
            </a:r>
          </a:p>
          <a:p>
            <a:pPr lvl="2">
              <a:spcAft>
                <a:spcPts val="1000"/>
              </a:spcAft>
              <a:defRPr sz="1500" b="0">
                <a:solidFill>
                  <a:srgbClr val="94A3B8"/>
                </a:solidFill>
                <a:latin typeface="Arial"/>
              </a:defRPr>
            </a:pPr>
            <a:r>
              <a:t>• Mục tiêu: Xóa bỏ 100% lỗi đoán sai do người dùng gõ sai chính tả, tiếng lóng ('slde', 'slie', 'sờ lai').</a:t>
            </a:r>
          </a:p>
          <a:p>
            <a:pPr lvl="1">
              <a:spcAft>
                <a:spcPts val="1000"/>
              </a:spcAft>
              <a:defRPr sz="1600" b="1">
                <a:solidFill>
                  <a:srgbClr val="FFFFFF"/>
                </a:solidFill>
                <a:latin typeface="Arial"/>
              </a:defRPr>
            </a:pPr>
            <a:r>
              <a:t>2. Cải thiện thiết kế responsive giao diện bảng biểu cho Mobile (Feedback của Yến)</a:t>
            </a:r>
          </a:p>
          <a:p>
            <a:pPr lvl="2">
              <a:spcAft>
                <a:spcPts val="1000"/>
              </a:spcAft>
              <a:defRPr sz="1500" b="0">
                <a:solidFill>
                  <a:srgbClr val="94A3B8"/>
                </a:solidFill>
                <a:latin typeface="Arial"/>
              </a:defRPr>
            </a:pPr>
            <a:r>
              <a:t>• Mục tiêu: Thêm thuộc tính overflow-x-auto cho các component Markdown trả về, giúp người dùng cuộn ngang bảng deadline trên điện thoại dễ dàng.</a:t>
            </a:r>
          </a:p>
          <a:p>
            <a:pPr lvl="1">
              <a:spcAft>
                <a:spcPts val="1000"/>
              </a:spcAft>
              <a:defRPr sz="1600" b="1">
                <a:solidFill>
                  <a:srgbClr val="FFFFFF"/>
                </a:solidFill>
                <a:latin typeface="Arial"/>
              </a:defRPr>
            </a:pPr>
            <a:r>
              <a:t>3. Tích hợp RAG nâng cao (Hybrid Search &amp; Re-ranking)</a:t>
            </a:r>
          </a:p>
          <a:p>
            <a:pPr lvl="2">
              <a:spcAft>
                <a:spcPts val="1000"/>
              </a:spcAft>
              <a:defRPr sz="1500" b="0">
                <a:solidFill>
                  <a:srgbClr val="94A3B8"/>
                </a:solidFill>
                <a:latin typeface="Arial"/>
              </a:defRPr>
            </a:pPr>
            <a:r>
              <a:t>• Mục tiêu: Tự động tổng hợp và sinh takeaway chuẩn xác hơn dựa trên việc gộp các slide có độ tương quan cao.</a:t>
            </a:r>
          </a:p>
          <a:p>
            <a:pPr>
              <a:spcAft>
                <a:spcPts val="1000"/>
              </a:spcAft>
              <a:defRPr sz="1800" b="1">
                <a:solidFill>
                  <a:srgbClr val="0EA5E9"/>
                </a:solidFill>
                <a:latin typeface="Arial"/>
              </a:defRPr>
            </a:pPr>
            <a:r>
              <a:t>Bài học lớn nhất từ dự án (Key Lesson):</a:t>
            </a:r>
          </a:p>
          <a:p>
            <a:pPr lvl="1">
              <a:spcAft>
                <a:spcPts val="1000"/>
              </a:spcAft>
              <a:defRPr sz="1600" b="1">
                <a:solidFill>
                  <a:srgbClr val="22C55E"/>
                </a:solidFill>
                <a:latin typeface="Arial"/>
              </a:defRPr>
            </a:pPr>
            <a:r>
              <a:t>“Kiểm thử sớm bằng dữ liệu thực và các lỗi của người dùng thật (typos, tiếng lóng, scope lock) là con đường ngắn nhất để đưa sản phẩm AI thoát khỏi phòng lab và đáp ứng đúng kỳ vọng của thực tế.”</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